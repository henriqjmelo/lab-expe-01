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grupo e o tema. O experimento compara resolver katas com e sem um assistente de IA, sob limite de 35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Hipóteses direcionais: H1 diz que com IA o tempo é menor, a taxa de testes aprovados é maior e a complexidade e a duplicação são menores. Nível de significância planejado de 0,05.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participantes, seis katas cada, 18 trials no total, 9 por tratamento. A ordem de cada pessoa foi congelada antes da coleta.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enunciados e as suítes foram escritos para este laboratório e congelados antes da coleta. Um piloto sem IA confirmou que as seis cabem em 35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os trials do Gabriel estão em data/trials_raw.csv, gerado pelo cronômetro. Os demais não têm esse registro e por isso não entram nos números. Nenhum valor foi estimado.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IA: K5 em 217 s; K1 e K3 chegaram ao limite. O K1 foi encerrado de propósito pelo participante. A mediana sem IA cai num trial censurado, então é um limite inferior e não um tempo medido.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K1 sem IA terminou sem implementação (0 de 9). O registro original do cronômetro trazia 0 de 0, e foi lido como 0 de 9, o tamanho da suíte congelada.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Duplicação foi 0% em todos os trials medidos. As medianas de complexidade e manutenibilidade são próximas entre os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n igual a 3 por grupo, nenhum teste estatístico separa efeito de acaso. Além disso, o pareamento previsto no desenho precisa ser revisto: como cada pessoa faz cada kata uma vez, o pareamento só pode ser por kata, com seis pares.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Esses desvios também estão na seção 6 do PROTOCOLO.md e na seção 5 do relatório.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script src/analise_parcial.py já gera tabelas e gráficos a partir de data/trials_raw.csv. Quando os demais trials forem registrados, basta rodar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 DE EXPERIMENTAÇÃO DE SOFTWARE · LAB02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Assistentes de IA vs. codificação manual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60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experimento controlado com katas de programação, com e sem assistente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Augustto Costa Barros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Afonso Infante Vieira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Henrique Jardim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Software, 6º período, noite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Professor: Danilo Maia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queremos saber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pouca evidência controlada sobre o efeito real de assistentes de IA. Este laboratório mede três coisas.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560320" cy="24688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057400"/>
            <a:ext cx="685800" cy="685800"/>
          </a:xfrm>
          <a:prstGeom prst="ellipse">
            <a:avLst/>
          </a:prstGeom>
          <a:solidFill>
            <a:srgbClr val="2A6F97"/>
          </a:solidFill>
          <a:ln w="12700">
            <a:solidFill>
              <a:srgbClr val="2A6F9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2918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reduz o tempo até passar em todos os testes?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560320" cy="24688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2057400"/>
            <a:ext cx="685800" cy="685800"/>
          </a:xfrm>
          <a:prstGeom prst="ellipse">
            <a:avLst/>
          </a:prstGeom>
          <a:solidFill>
            <a:srgbClr val="C77D3A"/>
          </a:solidFill>
          <a:ln w="12700">
            <a:solidFill>
              <a:srgbClr val="C77D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Defeitos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2918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reduz a quantidade de testes que falham?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1828800"/>
            <a:ext cx="2560320" cy="24688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5080" y="205740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2918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altera a complexidade ciclomática ou a duplicação do código?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Lab02 · Assistentes de IA vs. codificação manual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experimento foi desenhado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920240" cy="146304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6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031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 planejados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42032" y="1188720"/>
            <a:ext cx="1920240" cy="146304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42032" y="12801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6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min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542032" y="21031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por trial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26864" y="1188720"/>
            <a:ext cx="1920240" cy="146304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12801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6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21031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katas autorais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11696" y="1188720"/>
            <a:ext cx="1920240" cy="146304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11696" y="12801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6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711696" y="21031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de aceitação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8803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Crossover entre participantes: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pessoa resolve as 6 katas, 3 com IA e 3 sem, em ordem contrabalanceada.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principal: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até passar em todos os testes. Trial que chega ao limite é censurado, não descartado.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5, usado pelo Claude Code na IDE. Sem IA, nenhum assistente pode ser consultado.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Lab02 · Assistentes de IA vs. codificação manual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Katas e instrumentação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846320" cy="347472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katas autorais em Python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45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45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de atendimento (round-robin)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1645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testes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Verificador de senha corporativa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21031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testes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560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Consolidador de notas fiscais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testes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017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017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 rajada de login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017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testes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4747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Compactador de texto por repetição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206240" y="3474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testes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931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931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Divisor de times por afinidade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20624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testes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1097280"/>
            <a:ext cx="3200400" cy="347472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715000" y="1188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Ferramentas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5715000" y="1645920"/>
            <a:ext cx="2788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timer.py: cronômetro e registro do trial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pytest: suítes de aceitação congeladas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radon: complexidade, linhas e manutenibilidade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jscpd: linhas duplicadas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consolida.py: valida o desenho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Lab02 · Assistentes de IA vs. codificação manual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da coleta: 6 de 18 trials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920240" y="1234440"/>
            <a:ext cx="731520" cy="685800"/>
          </a:xfrm>
          <a:prstGeom prst="rect">
            <a:avLst/>
          </a:prstGeom>
          <a:solidFill>
            <a:srgbClr val="C77D3A"/>
          </a:solidFill>
          <a:ln w="12700">
            <a:solidFill>
              <a:srgbClr val="C77D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123444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88920" y="1234440"/>
            <a:ext cx="731520" cy="6858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88920" y="123444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0" y="1234440"/>
            <a:ext cx="731520" cy="685800"/>
          </a:xfrm>
          <a:prstGeom prst="rect">
            <a:avLst/>
          </a:prstGeom>
          <a:solidFill>
            <a:srgbClr val="C77D3A"/>
          </a:solidFill>
          <a:ln w="12700">
            <a:solidFill>
              <a:srgbClr val="C77D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123444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26280" y="1234440"/>
            <a:ext cx="731520" cy="6858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23444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394960" y="1234440"/>
            <a:ext cx="731520" cy="685800"/>
          </a:xfrm>
          <a:prstGeom prst="rect">
            <a:avLst/>
          </a:prstGeom>
          <a:solidFill>
            <a:srgbClr val="C77D3A"/>
          </a:solidFill>
          <a:ln w="12700">
            <a:solidFill>
              <a:srgbClr val="C77D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23444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K5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1234440"/>
            <a:ext cx="731520" cy="6858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123444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1031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920240" y="2103120"/>
            <a:ext cx="7315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1920240" y="210312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88920" y="2103120"/>
            <a:ext cx="7315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2788920" y="210312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57600" y="2103120"/>
            <a:ext cx="7315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3657600" y="210312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26280" y="2103120"/>
            <a:ext cx="7315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4526280" y="210312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394960" y="2103120"/>
            <a:ext cx="7315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5394960" y="210312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63640" y="2103120"/>
            <a:ext cx="7315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6263640" y="210312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9718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Henrique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920240" y="2971800"/>
            <a:ext cx="7315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1920240" y="29718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788920" y="2971800"/>
            <a:ext cx="7315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2788920" y="29718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0" y="2971800"/>
            <a:ext cx="7315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3657600" y="29718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526280" y="2971800"/>
            <a:ext cx="7315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4526280" y="29718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394960" y="2971800"/>
            <a:ext cx="7315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5394960" y="29718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K5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263640" y="2971800"/>
            <a:ext cx="7315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dash"/>
          </a:ln>
        </p:spPr>
      </p:sp>
      <p:sp>
        <p:nvSpPr>
          <p:cNvPr id="41" name="Text 39"/>
          <p:cNvSpPr txBox="1"/>
          <p:nvPr/>
        </p:nvSpPr>
        <p:spPr>
          <a:xfrm>
            <a:off x="6263640" y="29718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 cheia: registrado pelo cronômetro (azul, com IA; laranja, sem IA). Tracejado: sem registro, fora da análise.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6 trials de um só participante, só há estatística descritiva. Sem teste inferencial.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Lab02 · Assistentes de IA vs. codificação manual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RQ1: tempo até passar nos testes</a:t>
            </a:r>
            <a:endParaRPr lang="en-US" sz="3000" dirty="0"/>
          </a:p>
        </p:txBody>
      </p:sp>
      <p:pic>
        <p:nvPicPr>
          <p:cNvPr id="3" name="Image 0" descr="D:/Desktop/Lab do cuzao/lab-expe-02/graficos/lab02_tempo_por_t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394960" cy="287670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035040" y="1097280"/>
            <a:ext cx="265176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143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6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com IA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3 trials verdes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035040" y="2606040"/>
            <a:ext cx="265176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26517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77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min ou +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3337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sem IA (censurada)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 3 trials verde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Katas diferentes em cada tratamento e um único participante: leitura só descritiva.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Lab02 · Assistentes de IA vs. codificação manual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RQ2: testes aprovados ao final</a:t>
            </a:r>
            <a:endParaRPr lang="en-US" sz="3000" dirty="0"/>
          </a:p>
        </p:txBody>
      </p:sp>
      <p:pic>
        <p:nvPicPr>
          <p:cNvPr id="3" name="Image 0" descr="D:/Desktop/Lab do cuzao/lab-expe-02/graficos/lab02_taxa_suces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394960" cy="287670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035040" y="1097280"/>
            <a:ext cx="265176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143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6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com IA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de 9 nos três trials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035040" y="2606040"/>
            <a:ext cx="265176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26517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77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87,5%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3337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sem IA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0% a 100%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K3, o único teste que falhou exigia a palavra "valor" em minúscula na mensagem de erro.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Lab02 · Assistentes de IA vs. codificação manual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RQ3: estrutura do código</a:t>
            </a:r>
            <a:endParaRPr lang="en-US" sz="3000" dirty="0"/>
          </a:p>
        </p:txBody>
      </p:sp>
      <p:pic>
        <p:nvPicPr>
          <p:cNvPr id="3" name="Image 0" descr="D:/Desktop/Lab do cuzao/lab-expe-02/graficos/lab02_metricas_estatic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960120"/>
            <a:ext cx="6949440" cy="1985162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3017520"/>
          <a:ext cx="6400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45920"/>
                <a:gridCol w="16459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IA (n=3)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IA (n=2)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Complexidade ciclomática média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Linhas duplicadas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de manutenibilidade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K1 sem IA não entra, por não ter implementação. Com n tão pequeno, não há diferença a apontar.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ainda não dá pra concluir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512064" cy="51206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97864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único participante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08760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variação entre pessoas para separar do efeito da IA.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822960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130552"/>
            <a:ext cx="512064" cy="51206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1305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66544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Katas diferentes por tratamento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377440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K2, K4 e K6 com IA; K1, K3 e K5 sem IA. Dificuldade se mistura com o efeito.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880360"/>
            <a:ext cx="822960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999232"/>
            <a:ext cx="512064" cy="51206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999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935224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anulou o contrabalanceamento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246120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trials sem IA vieram primeiro e os três com IA depois, na mesma noite.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822960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67912"/>
            <a:ext cx="512064" cy="51206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8679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03904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assistente já conhecia as katas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114800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trials foram feitos na mesma conversa em que ele escreveu enunciados e testes.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Lab02 · Assistentes de IA vs. codificação manual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Desvios que ficam registrados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aconteceu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Ordem real: K1, K3, K5 (sem IA) e depois K2, K4, K6 (com IA), na mesma noite.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tentativa com solução pronta foi invalidada e removida. O trial foi refeito do zero. O registro 0/0 foi lido como 0/9.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K2, K4, K5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tecla x gravou censurado sobre resultado verde, por defeito do cronômetro. Os tempos reais foram restaurados a partir do log.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K2, K4, K6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assistente escreveu a solução direto no arquivo. No K4 e no K6, ele também rodou a suíte antes do participante.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3.13.0 e Node 24.13.0, no lugar das versões fixadas no README.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trial foi removido do dataset: o desvio é anotado e entra na análise como limitação.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Lab02 · Assistentes de IA vs. codificação manual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554480" cy="24688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1554480"/>
            <a:ext cx="548640" cy="548640"/>
          </a:xfrm>
          <a:prstGeom prst="ellipse">
            <a:avLst/>
          </a:prstGeom>
          <a:solidFill>
            <a:srgbClr val="2A6F97"/>
          </a:solidFill>
          <a:ln w="12700">
            <a:solidFill>
              <a:srgbClr val="2A6F9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86000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pelo cronômetro os 12 trials que faltam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25980" y="1371600"/>
            <a:ext cx="1554480" cy="24688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28900" y="1554480"/>
            <a:ext cx="548640" cy="548640"/>
          </a:xfrm>
          <a:prstGeom prst="ellipse">
            <a:avLst/>
          </a:prstGeom>
          <a:solidFill>
            <a:srgbClr val="2A6F97"/>
          </a:solidFill>
          <a:ln w="12700">
            <a:solidFill>
              <a:srgbClr val="2A6F9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289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35708" y="2286000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o desenho com o consolida.py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94760" y="1371600"/>
            <a:ext cx="1554480" cy="24688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1554480"/>
            <a:ext cx="548640" cy="548640"/>
          </a:xfrm>
          <a:prstGeom prst="ellipse">
            <a:avLst/>
          </a:prstGeom>
          <a:solidFill>
            <a:srgbClr val="2A6F97"/>
          </a:solidFill>
          <a:ln w="12700">
            <a:solidFill>
              <a:srgbClr val="2A6F9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904488" y="2286000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as métricas estáticas nos 18 trials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63540" y="1371600"/>
            <a:ext cx="1554480" cy="24688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66460" y="1554480"/>
            <a:ext cx="548640" cy="548640"/>
          </a:xfrm>
          <a:prstGeom prst="ellipse">
            <a:avLst/>
          </a:prstGeom>
          <a:solidFill>
            <a:srgbClr val="2A6F97"/>
          </a:solidFill>
          <a:ln w="12700">
            <a:solidFill>
              <a:srgbClr val="2A6F9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6646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73268" y="2286000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Pareamento por kata e teste de Wilcoxon (6 pares)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32320" y="1371600"/>
            <a:ext cx="1554480" cy="24688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35240" y="1554480"/>
            <a:ext cx="548640" cy="548640"/>
          </a:xfrm>
          <a:prstGeom prst="ellipse">
            <a:avLst/>
          </a:prstGeom>
          <a:solidFill>
            <a:srgbClr val="2A6F97"/>
          </a:solidFill>
          <a:ln w="12700">
            <a:solidFill>
              <a:srgbClr val="2A6F9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35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42048" y="2286000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relatório e apresentação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6 pares, o menor p-valor possível no Wilcoxon é 0,031 (bilateral). O resultado será evidência exploratória.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Lab02 · Assistentes de IA vs. codificação manual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Perguntas?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346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github.com/henriqjmelo/lab-expe-01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Board: github.com/users/henriqjmelo/projects/1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Relatório: lab-expe-02/RELATORIO.md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Assistentes de IA vs. codificação manual</dc:title>
  <dc:subject>PptxGenJS Presentation</dc:subject>
  <dc:creator>Guilherme Augustto Costa Barros, Gabriel Afonso Infante Vieira, Henrique Jardim</dc:creator>
  <cp:lastModifiedBy>Guilherme Augustto Costa Barros, Gabriel Afonso Infante Vieira, Henrique Jardim</cp:lastModifiedBy>
  <cp:revision>1</cp:revision>
  <dcterms:created xsi:type="dcterms:W3CDTF">2026-09-25T02:57:06Z</dcterms:created>
  <dcterms:modified xsi:type="dcterms:W3CDTF">2026-09-25T02:57:06Z</dcterms:modified>
</cp:coreProperties>
</file>